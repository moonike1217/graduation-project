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6"/>
  </p:normalViewPr>
  <p:slideViewPr>
    <p:cSldViewPr snapToGrid="0">
      <p:cViewPr varScale="1">
        <p:scale>
          <a:sx n="109" d="100"/>
          <a:sy n="109" d="100"/>
        </p:scale>
        <p:origin x="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1C343-5AE5-9A41-8DFA-49DFA9812EC8}" type="datetimeFigureOut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FB785-1789-FB49-B4F9-94FDA134C61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6074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61C09-E034-2C5B-42FB-22D0CC428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90F303-FC42-42CE-69F3-9EBCA4809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45E77F-FE89-E056-64CC-A4456E646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23CE5-F88C-6546-81EA-64FB15691814}" type="datetime1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25DD44-2EF0-55C2-62C0-CA365098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F5B4E9-713E-672A-6EBE-D45501FE3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770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8EA3C-30A8-CB50-3055-57543C02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A20C60-7A10-7CB0-CF0E-8AFE19BF6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85F3AE-834E-15FC-5DF6-AF1A3706C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F7C9-0BAD-3147-B16D-32AA04DE5EC3}" type="datetime1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608407-BCA8-C37E-1ADD-739A3DDDB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AD389A-5184-EC45-88FA-3CD675FBD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7728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EBF685-1A08-2114-B048-7FBE0EEB7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EF8B73-39EF-A46C-759B-9304D8425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52F2BE-FDD2-19EF-7A8C-898CAFFCC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05C94-EA33-964F-BF5B-ED3D2434A3FC}" type="datetime1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65C71F-1471-6FB6-E4F7-F3D98A0F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C8F866-F566-19C9-5369-B30B5403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2076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D90F7-39C1-BA5B-122F-02DF977DF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596FB4-4888-9E2A-A552-2A971F9242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B4C0D8-046E-9C18-50E4-56AE59F8E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988980-5AD5-6325-8A3A-21D824320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E1A1-91DD-0F42-A10B-67C0E8EEA695}" type="datetime1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03F044-88A3-336F-2BA4-708D04DC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5222D5-B096-A560-8A81-F6A180EA9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3670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D9AD2-7675-411D-D2B0-812BACF73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FBB549-F31C-19CD-6F64-6BC4CAD6E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B8E84A-3FAD-2A39-97C8-5B3672BDE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0C62BD-E4EA-D495-49DC-D2C51ADED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030715-D1A4-7368-04D7-964AEDE6A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420E26D-5619-5151-7029-1E7B1A4D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CCC27-A4B0-6B44-81CB-C1DF9480F0E4}" type="datetime1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56633D6-9F67-1409-4C7F-F75AA3496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A1A326-C337-A123-B2D5-8519D1C8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0869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503B8-5C96-4C71-38E3-F9A98A530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212460-73B0-A544-3CB6-6DAA3051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24AA0-A8CA-D445-B84E-179E62321B2B}" type="datetime1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D0E37E-5043-3BE2-E5C7-08161555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7A10AE-8147-1A6C-5C64-8DAAE52F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1732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622775-CE6A-E822-DDFC-FFC41CEBD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B977A-90B2-DB42-8720-C6A2A18E5FEE}" type="datetime1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537EA2-8EF8-809F-697C-EF5B1BD5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05F510-8A55-9051-49E7-40B567094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0853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787E4-507C-5943-E574-9BE52AE1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412E9D-4E77-392B-6C24-8E4A78424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AF081D-FB5A-303A-E479-966D0ACB7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39C69B-428B-0DB4-0F13-6A7E77EAD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00F0-6423-9A49-9CE2-31C18625ED22}" type="datetime1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85CE15-1F9C-F805-4892-15E8E0A6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C49584-0051-DAB1-A9B1-7459BE448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396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EA1F2-342B-2E95-EB2A-EC17B6C42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796568-F108-0DCA-CA96-67EFC8B75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F43988-7C26-AB7F-2800-7DFF89949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991739-2DCD-9DDE-D8A5-E499B7378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81180-9907-094B-ADEE-70FB27632506}" type="datetime1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AB909F-7825-6267-549E-676CAA44C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1FD41D-956E-938A-283B-5C2240DD0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474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5E4D7-8F4A-9FBF-5680-73BC28AD9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20EC06-DCE8-C3D2-B42A-7FC4A1A19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3B30FF-3175-07D1-06E6-C104B862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48EED-BD5B-BA40-88D6-34AA04991945}" type="datetime1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4C28E3-4174-38F7-BD8F-C2D9FEC9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31A0D1-2158-6078-DFD0-876F04D6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719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3C55EB-A238-B9BE-10B0-CB89C98FB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626139-6F07-2487-6938-E2A4B40B6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3182BA-19F9-24BC-3784-37FD4FBA3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25E2-4D70-1A40-8424-CEDFCC4DB81C}" type="datetime1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7DF13B-7906-2C16-D883-F8D98018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E21F53-38B6-4637-1BD6-E33F6C6AA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1439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C98DE7-AC1E-BEEC-C979-88225683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599728-85B0-D1DF-B5C8-17EB59640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13B35A-3637-6ECD-2FAE-BE0D48A25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92684-ED23-4E4C-86F1-D254AD9C5D55}" type="datetime1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98E010-5904-757E-1C32-C9ED38B3C2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4B3E57-DCEB-6149-711B-E4EC54B2B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0465A-948B-7245-8BC1-469352E1B4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61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C02E9-DE14-917C-1E0B-202828F47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1112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数组类型变量状态引导的模糊测试工具的设计与实现</a:t>
            </a:r>
            <a:endParaRPr kumimoji="1" lang="zh-CN" altLang="en-US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2089DB-B64C-D608-3211-907A52D72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/>
          <a:lstStyle/>
          <a:p>
            <a:r>
              <a:rPr kumimoji="1" lang="zh-CN" altLang="en-US" dirty="0"/>
              <a:t>南京邮电大学毕业设计中期检查</a:t>
            </a:r>
            <a:endParaRPr kumimoji="1"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33204D-4220-C491-4B74-16F167EC8E23}"/>
              </a:ext>
            </a:extLst>
          </p:cNvPr>
          <p:cNvSpPr txBox="1"/>
          <p:nvPr/>
        </p:nvSpPr>
        <p:spPr>
          <a:xfrm>
            <a:off x="8291955" y="5084762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汇 报 人：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B22042210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孙琳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指导教师：王子元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汇报日期：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2026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年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4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月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15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587130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D57A8D-7E01-EBAB-94FE-51C52865E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7F3EAD-C269-8D42-91F0-58C52075A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课题简介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任务列表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当前进度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后续规划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8CE357-3C43-CC4A-B495-4319A003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078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38A63-DD18-F857-9F50-465B182F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课题简介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FDB476-6B02-80C4-FC98-8CBC7DB6A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zh-CN" altLang="en-US" sz="2000" b="0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模糊测试凭借自动化强、漏洞挖掘效率高、成本低廉的优势，已成为国内外研究热点，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AFL</a:t>
            </a:r>
            <a:r>
              <a:rPr lang="zh-CN" altLang="en" sz="2000" b="0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" altLang="zh-CN" sz="2000" b="0" dirty="0" err="1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LibFuzzer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altLang="en-US" sz="2000" b="0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等工具的普及也推动其快速落地。但传统模糊测试以覆盖率为核心导向，仅追求代码覆盖范围，难以有效触发特定变量状态引发的程序缺陷。</a:t>
            </a:r>
          </a:p>
          <a:p>
            <a:pPr algn="l" rtl="0"/>
            <a:r>
              <a:rPr lang="zh-CN" altLang="en-US" sz="2000" b="0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数组是程序常用基础结构，与之相关的缓冲区错误、内存越界读写等漏洞长期高频出现，是软件安全的主要隐患。现有模糊测试缺少对数组变量的精细化状态建模，仅笼统处理内存数据，难以挖掘数组场景专属漏洞。</a:t>
            </a:r>
            <a:endParaRPr lang="en-US" altLang="zh-CN" sz="2000" b="0" dirty="0">
              <a:solidFill>
                <a:srgbClr val="000000"/>
              </a:solidFill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l" rtl="0"/>
            <a:r>
              <a:rPr lang="zh-CN" altLang="en-US" sz="2000" b="0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本课题提出数组变量状态引导的模糊测试方法：</a:t>
            </a: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在现有模糊测试工具的基础上，引入数组类型变量状态的多样化和特定状态作为引导机制，通过精细化地建模和分析数组变量的状态，设计状态多样性度量方法和基于状态的测试用例生成策略，从而提高模糊测试对数组相关错误的触发能力。 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11137B-A98A-1615-90DE-35D4ADC1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5132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38A63-DD18-F857-9F50-465B182F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任务列表及进度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FDB476-6B02-80C4-FC98-8CBC7DB6A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文献阅读及翻译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		</a:t>
            </a:r>
            <a:r>
              <a:rPr kumimoji="1" lang="en-US" altLang="zh-CN" dirty="0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100%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前置知识学习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		</a:t>
            </a:r>
            <a:r>
              <a:rPr kumimoji="1" lang="en-US" altLang="zh-CN" dirty="0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100%</a:t>
            </a: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系统设计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			</a:t>
            </a:r>
            <a:r>
              <a:rPr kumimoji="1" lang="en-US" altLang="zh-CN" dirty="0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80%</a:t>
            </a: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系统实现及测试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		</a:t>
            </a:r>
            <a:r>
              <a:rPr kumimoji="1" lang="en-US" altLang="zh-CN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25%</a:t>
            </a: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论文撰写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			</a:t>
            </a:r>
            <a:r>
              <a:rPr kumimoji="1" lang="en-US" altLang="zh-CN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0%</a:t>
            </a:r>
            <a:endParaRPr kumimoji="1" lang="zh-CN" altLang="en-US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72850A-F556-DA91-5741-96FA2C842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5756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38A63-DD18-F857-9F50-465B182F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文献阅读及翻译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FDB476-6B02-80C4-FC98-8CBC7DB6A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外文翻译已提交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参考部分开源项目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131B60-57CE-BC99-582D-D85E66C2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5</a:t>
            </a:fld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CBEDF1-83DD-8F88-19D8-BBB331D98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356" y="1058594"/>
            <a:ext cx="4856795" cy="4740812"/>
          </a:xfrm>
          <a:prstGeom prst="rect">
            <a:avLst/>
          </a:prstGeom>
          <a:effectLst>
            <a:outerShdw blurRad="63500" sx="101960" sy="10196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90722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38A63-DD18-F857-9F50-465B182F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前置知识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FDB476-6B02-80C4-FC98-8CBC7DB6A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rPr>
              <a:t>AFL++</a:t>
            </a:r>
            <a:r>
              <a: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的使用（</a:t>
            </a:r>
            <a:r>
              <a:rPr lang="zh-CN" altLang="en-US" sz="1800" dirty="0">
                <a:latin typeface="SimHei" panose="02010609060101010101" pitchFamily="49" charset="-122"/>
                <a:ea typeface="SimHei" panose="02010609060101010101" pitchFamily="49" charset="-122"/>
              </a:rPr>
              <a:t>覆盖率引导灰盒模糊测试工具增强版</a:t>
            </a:r>
            <a:r>
              <a: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kumimoji="1" lang="en-US" altLang="zh-CN" sz="20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zh-CN" altLang="en-US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51F962-5416-D93F-1CE7-864710F96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6</a:t>
            </a:fld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CDB56C-6B77-C8B8-5DCC-841AE73D6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41" y="2378594"/>
            <a:ext cx="6062696" cy="3610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15C6F0-01F8-B577-9DBD-81B406443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277" y="1276717"/>
            <a:ext cx="4360663" cy="471267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9D52849-ED72-9E64-0489-7EB3EDEA63CD}"/>
              </a:ext>
            </a:extLst>
          </p:cNvPr>
          <p:cNvSpPr txBox="1"/>
          <p:nvPr/>
        </p:nvSpPr>
        <p:spPr>
          <a:xfrm>
            <a:off x="5725336" y="6168781"/>
            <a:ext cx="5628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必须使用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AFL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自带的编译器进行编译，否则无法插桩。</a:t>
            </a:r>
          </a:p>
        </p:txBody>
      </p:sp>
    </p:spTree>
    <p:extLst>
      <p:ext uri="{BB962C8B-B14F-4D97-AF65-F5344CB8AC3E}">
        <p14:creationId xmlns:p14="http://schemas.microsoft.com/office/powerpoint/2010/main" val="3145567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38A63-DD18-F857-9F50-465B182F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当前进度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FDB476-6B02-80C4-FC98-8CBC7DB6A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完成系统第一模块（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数组变量状态识别</a:t>
            </a:r>
            <a:r>
              <a: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）开发</a:t>
            </a:r>
            <a:endParaRPr kumimoji="1" lang="en-US" altLang="zh-CN" sz="20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kumimoji="1" lang="zh-CN" altLang="en-US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131B60-57CE-BC99-582D-D85E66C2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7</a:t>
            </a:fld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EB05EE-8FCD-668C-1654-8374847E4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57" y="2312378"/>
            <a:ext cx="5070231" cy="386458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12856B4-1A8D-FF21-5A5A-02AAC2890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991" y="1348380"/>
            <a:ext cx="5125366" cy="448971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5C854AF-DF7E-9D39-F8A7-9313DB383990}"/>
              </a:ext>
            </a:extLst>
          </p:cNvPr>
          <p:cNvSpPr txBox="1"/>
          <p:nvPr/>
        </p:nvSpPr>
        <p:spPr>
          <a:xfrm>
            <a:off x="603663" y="6311900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静态分析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阶段，收集数组基本信息（名称、类型、长度）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2FB569-DDA6-8C06-D118-40A1086F5E1A}"/>
              </a:ext>
            </a:extLst>
          </p:cNvPr>
          <p:cNvSpPr txBox="1"/>
          <p:nvPr/>
        </p:nvSpPr>
        <p:spPr>
          <a:xfrm>
            <a:off x="6738425" y="5988734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动态插桩阶段在编译时对数组访问操作进行插桩，</a:t>
            </a:r>
            <a:b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</a:b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记录每次数组访问的索引值、访问类型</a:t>
            </a:r>
            <a:endParaRPr kumimoji="1" lang="zh-CN" altLang="en-US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406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38A63-DD18-F857-9F50-465B182F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当前进度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131B60-57CE-BC99-582D-D85E66C2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8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137A002-9D59-6A3A-86DC-83E7EA089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42" y="1690688"/>
            <a:ext cx="3964084" cy="454386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BA9F208-1A3C-2730-42B3-408B5B86314D}"/>
              </a:ext>
            </a:extLst>
          </p:cNvPr>
          <p:cNvSpPr txBox="1"/>
          <p:nvPr/>
        </p:nvSpPr>
        <p:spPr>
          <a:xfrm>
            <a:off x="2110154" y="63498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示例程序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3B82DF7-2602-DE3C-6762-FE8682BB0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458" y="562399"/>
            <a:ext cx="6204284" cy="520535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3937D7E-64AB-BF89-C418-559CDD81A886}"/>
              </a:ext>
            </a:extLst>
          </p:cNvPr>
          <p:cNvSpPr txBox="1"/>
          <p:nvPr/>
        </p:nvSpPr>
        <p:spPr>
          <a:xfrm>
            <a:off x="8056602" y="59262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运行结果</a:t>
            </a:r>
          </a:p>
        </p:txBody>
      </p:sp>
    </p:spTree>
    <p:extLst>
      <p:ext uri="{BB962C8B-B14F-4D97-AF65-F5344CB8AC3E}">
        <p14:creationId xmlns:p14="http://schemas.microsoft.com/office/powerpoint/2010/main" val="252058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38A63-DD18-F857-9F50-465B182F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后续规划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FDB476-6B02-80C4-FC98-8CBC7DB6A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尽快完成剩余三个模块开发（预计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5.1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前完成）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同步开始毕业论文撰写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遇到难题及时向指导教师请教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72850A-F556-DA91-5741-96FA2C842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465A-948B-7245-8BC1-469352E1B4FC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5177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432</Words>
  <Application>Microsoft Macintosh PowerPoint</Application>
  <PresentationFormat>宽屏</PresentationFormat>
  <Paragraphs>45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SimHei</vt:lpstr>
      <vt:lpstr>Arial</vt:lpstr>
      <vt:lpstr>Office 主题​​</vt:lpstr>
      <vt:lpstr>数组类型变量状态引导的模糊测试工具的设计与实现</vt:lpstr>
      <vt:lpstr>目录</vt:lpstr>
      <vt:lpstr>课题简介</vt:lpstr>
      <vt:lpstr>任务列表及进度</vt:lpstr>
      <vt:lpstr>文献阅读及翻译</vt:lpstr>
      <vt:lpstr>前置知识</vt:lpstr>
      <vt:lpstr>当前进度</vt:lpstr>
      <vt:lpstr>当前进度</vt:lpstr>
      <vt:lpstr>后续规划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数组类型变量状态引导的模糊测试工具的设计与实现</dc:title>
  <dc:creator>琳 孙</dc:creator>
  <cp:lastModifiedBy>琳 孙</cp:lastModifiedBy>
  <cp:revision>2</cp:revision>
  <dcterms:created xsi:type="dcterms:W3CDTF">2026-04-15T09:37:50Z</dcterms:created>
  <dcterms:modified xsi:type="dcterms:W3CDTF">2026-04-15T11:40:11Z</dcterms:modified>
</cp:coreProperties>
</file>